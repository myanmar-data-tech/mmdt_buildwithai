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Urbanist Medium"/>
      <p:regular r:id="rId20"/>
      <p:bold r:id="rId21"/>
      <p:italic r:id="rId22"/>
      <p:boldItalic r:id="rId23"/>
    </p:embeddedFont>
    <p:embeddedFont>
      <p:font typeface="Urbanist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B287507-33E7-42E2-8341-72AAA7DDE5D5}">
  <a:tblStyle styleId="{2B287507-33E7-42E2-8341-72AAA7DDE5D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Medium-regular.fntdata"/><Relationship Id="rId22" Type="http://schemas.openxmlformats.org/officeDocument/2006/relationships/font" Target="fonts/UrbanistMedium-italic.fntdata"/><Relationship Id="rId21" Type="http://schemas.openxmlformats.org/officeDocument/2006/relationships/font" Target="fonts/UrbanistMedium-bold.fntdata"/><Relationship Id="rId24" Type="http://schemas.openxmlformats.org/officeDocument/2006/relationships/font" Target="fonts/Urbanist-regular.fntdata"/><Relationship Id="rId23" Type="http://schemas.openxmlformats.org/officeDocument/2006/relationships/font" Target="fonts/Urbanist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-italic.fntdata"/><Relationship Id="rId25" Type="http://schemas.openxmlformats.org/officeDocument/2006/relationships/font" Target="fonts/Urbanist-bold.fntdata"/><Relationship Id="rId27" Type="http://schemas.openxmlformats.org/officeDocument/2006/relationships/font" Target="fonts/Urbanist-bold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12.png"/><Relationship Id="rId7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1.png"/><Relationship Id="rId4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png"/><Relationship Id="rId4" Type="http://schemas.openxmlformats.org/officeDocument/2006/relationships/image" Target="../media/image11.png"/><Relationship Id="rId5" Type="http://schemas.openxmlformats.org/officeDocument/2006/relationships/image" Target="../media/image2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1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19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095500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Multi-Agent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Career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Architect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3219450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Orchestrating specialized AI agents for professional growth roadmaps and 3-month study plans using Google's Agent Development Kit (ADK).</a:t>
            </a:r>
            <a:endParaRPr/>
          </a:p>
        </p:txBody>
      </p:sp>
      <p:pic>
        <p:nvPicPr>
          <p:cNvPr descr="image.png" id="87" name="Google Shape;87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57875" y="4286250"/>
            <a:ext cx="476250" cy="476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571500" y="250031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 LLMs often provide generic career advice. To build professional-grade roadmaps, a system requires:</a:t>
            </a:r>
            <a:endParaRPr/>
          </a:p>
        </p:txBody>
      </p:sp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904875" y="32623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Domain Expertise: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Specialized knowledge in Cloud, AI, and Security.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904875" y="40243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Up-to-Date Data: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Real-time access to certification costs and market trends.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04875" y="4786312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Actionable Planning: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Breaking high-level goals into week-by-week study tasks.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32623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71500" y="40243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47863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Need for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Precision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6381750" y="2767012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Router-Worker Pattern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381750" y="3281362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utilizes a central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Router Agent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to classify intent and delegate tasks to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Specialist Workers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381750" y="4043362"/>
            <a:ext cx="52387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Built on the </a:t>
            </a: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Google ADK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, this modular approach ensures that the most relevant "brain" handles the specific technical domain.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Orchestration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Architecture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8" name="Google Shape;118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35242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338387"/>
            <a:ext cx="35242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338387"/>
            <a:ext cx="35242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6"/>
          <p:cNvSpPr txBox="1"/>
          <p:nvPr/>
        </p:nvSpPr>
        <p:spPr>
          <a:xfrm>
            <a:off x="914400" y="33289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Intent Analysis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914400" y="3843337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Processes natural language queries to identify the core career interest (e.g., "I want to learn Security").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4676775" y="33289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Dynamic Routing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676775" y="3843337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Determines whether to activate the AI, Cloud, or Security specialist based on query context.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8439150" y="33289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Zero-Shot Selection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439150" y="384333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Returns only the worker name, maintaining high throughput and reducing token overhead.</a:t>
            </a:r>
            <a:endParaRPr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709862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9" name="Google Shape;12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6775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9150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Brain: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Router Agent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38387"/>
            <a:ext cx="35242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33875" y="2338387"/>
            <a:ext cx="3524250" cy="31813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9" name="Google Shape;139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096250" y="2338387"/>
            <a:ext cx="3524250" cy="318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/>
        </p:nvSpPr>
        <p:spPr>
          <a:xfrm>
            <a:off x="914400" y="33289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Specialist</a:t>
            </a:r>
            <a:endParaRPr/>
          </a:p>
        </p:txBody>
      </p:sp>
      <p:sp>
        <p:nvSpPr>
          <p:cNvPr id="141" name="Google Shape;141;p17"/>
          <p:cNvSpPr txBox="1"/>
          <p:nvPr/>
        </p:nvSpPr>
        <p:spPr>
          <a:xfrm>
            <a:off x="914400" y="3843337"/>
            <a:ext cx="2838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Roadmaps for ML, LLMs, and Data Science. Focuses on frameworks like PyTorch and Vertex AI.</a:t>
            </a:r>
            <a:endParaRPr/>
          </a:p>
        </p:txBody>
      </p:sp>
      <p:sp>
        <p:nvSpPr>
          <p:cNvPr id="142" name="Google Shape;142;p17"/>
          <p:cNvSpPr txBox="1"/>
          <p:nvPr/>
        </p:nvSpPr>
        <p:spPr>
          <a:xfrm>
            <a:off x="4676775" y="33289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Cloud Specialist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4676775" y="384333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Expertise in AWS, Azure, and GCP architectures with foundational to expert tiering.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439150" y="3328987"/>
            <a:ext cx="298037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Security Specialist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8439150" y="3843337"/>
            <a:ext cx="2838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Pentesting, Governance (GRC), and Network Defense certification paths.</a:t>
            </a:r>
            <a:endParaRPr/>
          </a:p>
        </p:txBody>
      </p:sp>
      <p:pic>
        <p:nvPicPr>
          <p:cNvPr descr="image.png" id="146" name="Google Shape;146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76775" y="2709862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39150" y="27098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Domain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Expert</a:t>
            </a: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Agents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/>
          <p:nvPr/>
        </p:nvSpPr>
        <p:spPr>
          <a:xfrm>
            <a:off x="571500" y="3919537"/>
            <a:ext cx="11049000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8"/>
          <p:cNvSpPr txBox="1"/>
          <p:nvPr/>
        </p:nvSpPr>
        <p:spPr>
          <a:xfrm>
            <a:off x="510733" y="2986087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1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571500" y="4300537"/>
            <a:ext cx="243066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Routing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Analyze user query &amp; select expert.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3383413" y="2986087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2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3444180" y="4300537"/>
            <a:ext cx="243066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Roadmap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Generate logical cert progression.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6256094" y="2986087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3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6316860" y="4300537"/>
            <a:ext cx="243066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Extraction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Identify target certification via Regex.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128774" y="2986087"/>
            <a:ext cx="2552193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Step 4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9189541" y="4300537"/>
            <a:ext cx="243066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Action Plan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Design 3-month detailed study plan.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Sequential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Workflow</a:t>
            </a: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Logic</a:t>
            </a: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1672530" y="36909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8"/>
          <p:cNvSpPr/>
          <p:nvPr/>
        </p:nvSpPr>
        <p:spPr>
          <a:xfrm>
            <a:off x="4545210" y="36909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8"/>
          <p:cNvSpPr/>
          <p:nvPr/>
        </p:nvSpPr>
        <p:spPr>
          <a:xfrm>
            <a:off x="7417891" y="36909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8"/>
          <p:cNvSpPr/>
          <p:nvPr/>
        </p:nvSpPr>
        <p:spPr>
          <a:xfrm>
            <a:off x="10290571" y="3690937"/>
            <a:ext cx="228600" cy="228600"/>
          </a:xfrm>
          <a:prstGeom prst="roundRect">
            <a:avLst>
              <a:gd fmla="val 50000" name="adj"/>
            </a:avLst>
          </a:prstGeom>
          <a:solidFill>
            <a:srgbClr val="DEFF9A"/>
          </a:solidFill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4" name="Google Shape;174;p19"/>
          <p:cNvGraphicFramePr/>
          <p:nvPr/>
        </p:nvGraphicFramePr>
        <p:xfrm>
          <a:off x="571500" y="28289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{2B287507-33E7-42E2-8341-72AAA7DDE5D5}</a:tableStyleId>
              </a:tblPr>
              <a:tblGrid>
                <a:gridCol w="2372175"/>
                <a:gridCol w="3295500"/>
                <a:gridCol w="5381325"/>
              </a:tblGrid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Technology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EFF9A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Role in System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23232"/>
                    </a:solidFill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Core Framework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Google ADK (Agent SDK)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Agent orchestration and tool management.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LLM Model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Gemini-2.5-Flash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Reasoning, roadmap design, and planning.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External Tools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Google Search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Fetching real-time market data and costs.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781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Deployment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Flask &amp; Python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200" u="none" cap="none" strike="noStrike">
                          <a:solidFill>
                            <a:srgbClr val="DAFFDE"/>
                          </a:solidFill>
                          <a:latin typeface="Urbanist"/>
                          <a:ea typeface="Urbanist"/>
                          <a:cs typeface="Urbanist"/>
                          <a:sym typeface="Urbanist"/>
                        </a:rPr>
                        <a:t>Serving the API and managing sessions.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5" name="Google Shape;175;p19"/>
          <p:cNvSpPr/>
          <p:nvPr/>
        </p:nvSpPr>
        <p:spPr>
          <a:xfrm>
            <a:off x="571500" y="3286125"/>
            <a:ext cx="237217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2943671" y="3286125"/>
            <a:ext cx="3295501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9"/>
          <p:cNvSpPr/>
          <p:nvPr/>
        </p:nvSpPr>
        <p:spPr>
          <a:xfrm>
            <a:off x="6239172" y="3286125"/>
            <a:ext cx="5381327" cy="1905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9"/>
          <p:cNvSpPr/>
          <p:nvPr/>
        </p:nvSpPr>
        <p:spPr>
          <a:xfrm>
            <a:off x="571500" y="3776662"/>
            <a:ext cx="237217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9"/>
          <p:cNvSpPr/>
          <p:nvPr/>
        </p:nvSpPr>
        <p:spPr>
          <a:xfrm>
            <a:off x="2943671" y="3776662"/>
            <a:ext cx="329550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6239172" y="3776662"/>
            <a:ext cx="538132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9"/>
          <p:cNvSpPr/>
          <p:nvPr/>
        </p:nvSpPr>
        <p:spPr>
          <a:xfrm>
            <a:off x="571500" y="4252912"/>
            <a:ext cx="237217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9"/>
          <p:cNvSpPr/>
          <p:nvPr/>
        </p:nvSpPr>
        <p:spPr>
          <a:xfrm>
            <a:off x="2943671" y="4252912"/>
            <a:ext cx="329550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6239172" y="4252912"/>
            <a:ext cx="538132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571500" y="4729162"/>
            <a:ext cx="237217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2943671" y="4729162"/>
            <a:ext cx="329550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6239172" y="4729162"/>
            <a:ext cx="538132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571500" y="5205412"/>
            <a:ext cx="237217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2943671" y="5205412"/>
            <a:ext cx="3295501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6239172" y="5205412"/>
            <a:ext cx="5381327" cy="9525"/>
          </a:xfrm>
          <a:prstGeom prst="rect">
            <a:avLst/>
          </a:prstGeom>
          <a:solidFill>
            <a:srgbClr val="DAFF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Technical</a:t>
            </a: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Stack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5" name="Google Shape;19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20"/>
          <p:cNvSpPr txBox="1"/>
          <p:nvPr/>
        </p:nvSpPr>
        <p:spPr>
          <a:xfrm>
            <a:off x="571500" y="1157287"/>
            <a:ext cx="5200650" cy="1238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Real-Time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Intelligence</a:t>
            </a:r>
            <a:endParaRPr/>
          </a:p>
        </p:txBody>
      </p:sp>
      <p:sp>
        <p:nvSpPr>
          <p:cNvPr id="197" name="Google Shape;197;p20"/>
          <p:cNvSpPr txBox="1"/>
          <p:nvPr/>
        </p:nvSpPr>
        <p:spPr>
          <a:xfrm>
            <a:off x="571500" y="2967037"/>
            <a:ext cx="495300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Unlike static models, this system leverages the google_search tool to provide current insights:</a:t>
            </a:r>
            <a:endParaRPr/>
          </a:p>
        </p:txBody>
      </p:sp>
      <p:pic>
        <p:nvPicPr>
          <p:cNvPr descr="image.png" id="198" name="Google Shape;19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0"/>
          <p:cNvSpPr txBox="1"/>
          <p:nvPr/>
        </p:nvSpPr>
        <p:spPr>
          <a:xfrm>
            <a:off x="904875" y="3738562"/>
            <a:ext cx="4619625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Current Pricing: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Latest exam fees for AWS/Azure/GCP.</a:t>
            </a:r>
            <a:endParaRPr/>
          </a:p>
        </p:txBody>
      </p:sp>
      <p:sp>
        <p:nvSpPr>
          <p:cNvPr id="200" name="Google Shape;200;p20"/>
          <p:cNvSpPr txBox="1"/>
          <p:nvPr/>
        </p:nvSpPr>
        <p:spPr>
          <a:xfrm>
            <a:off x="904875" y="4214812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ROI Analysis: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Identifying high-demand certifications for the current year.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904875" y="4976812"/>
            <a:ext cx="46196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Study Resources: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Finding the latest official documentation and training links.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571500" y="373856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42148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4976812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1"/>
          <p:cNvSpPr txBox="1"/>
          <p:nvPr/>
        </p:nvSpPr>
        <p:spPr>
          <a:xfrm>
            <a:off x="571500" y="2147887"/>
            <a:ext cx="5500687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Actionable Milestones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571500" y="2662237"/>
            <a:ext cx="52387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transforms a high-level roadmap into a 90-day execution plan:</a:t>
            </a:r>
            <a:endParaRPr/>
          </a:p>
        </p:txBody>
      </p:sp>
      <p:pic>
        <p:nvPicPr>
          <p:cNvPr descr="image.png" id="213" name="Google Shape;21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1"/>
          <p:cNvSpPr txBox="1"/>
          <p:nvPr/>
        </p:nvSpPr>
        <p:spPr>
          <a:xfrm>
            <a:off x="904875" y="34242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Month 1: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Foundations, core concepts, and environment setup.</a:t>
            </a:r>
            <a:endParaRPr/>
          </a:p>
        </p:txBody>
      </p:sp>
      <p:sp>
        <p:nvSpPr>
          <p:cNvPr id="215" name="Google Shape;215;p21"/>
          <p:cNvSpPr txBox="1"/>
          <p:nvPr/>
        </p:nvSpPr>
        <p:spPr>
          <a:xfrm>
            <a:off x="904875" y="41862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Month 2: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Intermediate features and hands-on lab projects.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904875" y="4948237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Month 3: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Practice exams, final review, and certification testing.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571500" y="34242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571500" y="41862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571500" y="4948237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Month-by-Month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Planning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6" name="Google Shape;226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571625"/>
            <a:ext cx="11049000" cy="4714875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2"/>
          <p:cNvSpPr txBox="1"/>
          <p:nvPr/>
        </p:nvSpPr>
        <p:spPr>
          <a:xfrm>
            <a:off x="571500" y="4595812"/>
            <a:ext cx="11049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Multi-agent orchestration significantly reduces hallucinations and increases domain-specific precision.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3" name="Google Shape;23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024062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3"/>
          <p:cNvSpPr txBox="1"/>
          <p:nvPr/>
        </p:nvSpPr>
        <p:spPr>
          <a:xfrm>
            <a:off x="571500" y="2638425"/>
            <a:ext cx="5238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system is designed for production environments:</a:t>
            </a:r>
            <a:endParaRPr/>
          </a:p>
        </p:txBody>
      </p:sp>
      <p:pic>
        <p:nvPicPr>
          <p:cNvPr descr="image.png" id="236" name="Google Shape;236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2033587"/>
            <a:ext cx="521970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3"/>
          <p:cNvSpPr txBox="1"/>
          <p:nvPr/>
        </p:nvSpPr>
        <p:spPr>
          <a:xfrm>
            <a:off x="904875" y="3114675"/>
            <a:ext cx="4905375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Session Management: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InMemorySessionService ensures context is maintained across sequential calls.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904875" y="38862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REST API: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Flask integration allows easy connection to frontend UIs.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904875" y="4648200"/>
            <a:ext cx="490537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Multimodal Future:</a:t>
            </a:r>
            <a:r>
              <a:rPr b="0" i="0" lang="en-US" sz="15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Potential to integrate audio/video via ADK's streaming capabilities.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571500" y="3114675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571500" y="38862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571500" y="4648200"/>
            <a:ext cx="1905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Enterprise </a:t>
            </a:r>
            <a:r>
              <a:rPr b="0" i="0" lang="en-US" sz="40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Scalability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4"/>
          <p:cNvSpPr txBox="1"/>
          <p:nvPr/>
        </p:nvSpPr>
        <p:spPr>
          <a:xfrm>
            <a:off x="295275" y="219551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Questions </a:t>
            </a: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&amp;</a:t>
            </a:r>
            <a:r>
              <a:rPr b="1" i="0" lang="en-US" sz="60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Answers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2286000" y="3319462"/>
            <a:ext cx="7620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Exploring the future of autonomous career strategy through Google ADK and Multi-Agent Systems.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571500" y="4386262"/>
            <a:ext cx="110490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860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contact@ai-career-architect.io</a:t>
            </a:r>
            <a:endParaRPr/>
          </a:p>
        </p:txBody>
      </p:sp>
      <p:pic>
        <p:nvPicPr>
          <p:cNvPr descr="image.png" id="252" name="Google Shape;25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00550" y="4405312"/>
            <a:ext cx="228600" cy="2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7" name="Google Shape;257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5"/>
          <p:cNvSpPr/>
          <p:nvPr/>
        </p:nvSpPr>
        <p:spPr>
          <a:xfrm>
            <a:off x="571500" y="18335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5"/>
          <p:cNvSpPr/>
          <p:nvPr/>
        </p:nvSpPr>
        <p:spPr>
          <a:xfrm>
            <a:off x="571500" y="27765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5"/>
          <p:cNvSpPr/>
          <p:nvPr/>
        </p:nvSpPr>
        <p:spPr>
          <a:xfrm>
            <a:off x="571500" y="3548062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5"/>
          <p:cNvSpPr/>
          <p:nvPr/>
        </p:nvSpPr>
        <p:spPr>
          <a:xfrm>
            <a:off x="571500" y="44910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5"/>
          <p:cNvSpPr/>
          <p:nvPr/>
        </p:nvSpPr>
        <p:spPr>
          <a:xfrm>
            <a:off x="571500" y="2767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5"/>
          <p:cNvSpPr/>
          <p:nvPr/>
        </p:nvSpPr>
        <p:spPr>
          <a:xfrm>
            <a:off x="571500" y="27670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5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25"/>
          <p:cNvSpPr/>
          <p:nvPr/>
        </p:nvSpPr>
        <p:spPr>
          <a:xfrm>
            <a:off x="571500" y="35385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25"/>
          <p:cNvSpPr/>
          <p:nvPr/>
        </p:nvSpPr>
        <p:spPr>
          <a:xfrm>
            <a:off x="571500" y="4481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25"/>
          <p:cNvSpPr/>
          <p:nvPr/>
        </p:nvSpPr>
        <p:spPr>
          <a:xfrm>
            <a:off x="571500" y="44815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5"/>
          <p:cNvSpPr/>
          <p:nvPr/>
        </p:nvSpPr>
        <p:spPr>
          <a:xfrm>
            <a:off x="571500" y="52530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/>
          <p:nvPr/>
        </p:nvSpPr>
        <p:spPr>
          <a:xfrm>
            <a:off x="571500" y="52530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70" name="Google Shape;27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0621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1666875" y="19764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https://static.vecteezy.com/system/resources/previews/065/613/679/large_2x/glowing-neural-network-structure-with-orange-particles-on-dark-background-abstract-network-connections-with-light-artificial-intelligence-neural-network-photo.jpeg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1666875" y="23955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73" name="Google Shape;273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194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5"/>
          <p:cNvSpPr txBox="1"/>
          <p:nvPr/>
        </p:nvSpPr>
        <p:spPr>
          <a:xfrm>
            <a:off x="1666875" y="29265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https://png.pngtree.com/png-clipart/20250205/original/pngtree-3d-process-workflow-png-image_12997259.png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1666875" y="31599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pic>
        <p:nvPicPr>
          <p:cNvPr descr="image.png" id="276" name="Google Shape;276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766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77" name="Google Shape;277;p25"/>
          <p:cNvSpPr txBox="1"/>
          <p:nvPr/>
        </p:nvSpPr>
        <p:spPr>
          <a:xfrm>
            <a:off x="1666875" y="3690937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https://static.vecteezy.com/system/resources/previews/050/442/116/large_2x/modern-data-center-with-server-racks-and-blue-led-lights-for-cloud-computing-and-data-storage-photo.jpg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1666875" y="4110037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www.vecteezy.com</a:t>
            </a:r>
            <a:endParaRPr/>
          </a:p>
        </p:txBody>
      </p:sp>
      <p:pic>
        <p:nvPicPr>
          <p:cNvPr descr="image.png" id="279" name="Google Shape;279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633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5"/>
          <p:cNvSpPr txBox="1"/>
          <p:nvPr/>
        </p:nvSpPr>
        <p:spPr>
          <a:xfrm>
            <a:off x="1666875" y="46410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https://www.editage.com/insights/wp-content/uploads/2025/05/dunning-kruger-effect-850x560.jpg</a:t>
            </a:r>
            <a:endParaRPr/>
          </a:p>
        </p:txBody>
      </p:sp>
      <p:sp>
        <p:nvSpPr>
          <p:cNvPr id="281" name="Google Shape;281;p25"/>
          <p:cNvSpPr txBox="1"/>
          <p:nvPr/>
        </p:nvSpPr>
        <p:spPr>
          <a:xfrm>
            <a:off x="1666875" y="48744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www.editage.com</a:t>
            </a:r>
            <a:endParaRPr/>
          </a:p>
        </p:txBody>
      </p:sp>
      <p:pic>
        <p:nvPicPr>
          <p:cNvPr descr="image.png" id="282" name="Google Shape;282;p2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4054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5"/>
          <p:cNvSpPr txBox="1"/>
          <p:nvPr/>
        </p:nvSpPr>
        <p:spPr>
          <a:xfrm>
            <a:off x="1666875" y="54125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https://png.pngtree.com/png-clipart/20250228/original/pngtree-futuristic-cybersecurity-shield-with-lock-png-image_20534224.png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1666875" y="56459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pngtree.com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571500" y="571500"/>
            <a:ext cx="11601450" cy="619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5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